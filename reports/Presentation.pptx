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Final Project Presentation</a:t>
            </a:r>
          </a:p>
          <a:p>
            <a:pPr>
              <a:spcAft>
                <a:spcPts val="1200"/>
              </a:spcAft>
              <a:defRPr sz="2000"/>
            </a:pPr>
            <a:r>
              <a:t>Python • SQLite • Power BI • 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Build an end-to-end mutual-fund analytics workflow.</a:t>
            </a:r>
          </a:p>
          <a:p>
            <a:pPr>
              <a:spcAft>
                <a:spcPts val="1200"/>
              </a:spcAft>
              <a:defRPr sz="1800"/>
            </a:pPr>
            <a:r>
              <a:t>Clean NAV data, store it in SQLite, calculate performance/risk metrics and visualize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Available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Six scheme NAV histories were available.</a:t>
            </a:r>
          </a:p>
          <a:p>
            <a:pPr>
              <a:spcAft>
                <a:spcPts val="1200"/>
              </a:spcAft>
              <a:defRPr sz="1800"/>
            </a:pPr>
            <a:r>
              <a:t>20,025 cleaned NAV observations.</a:t>
            </a:r>
          </a:p>
          <a:p>
            <a:pPr>
              <a:spcAft>
                <a:spcPts val="1200"/>
              </a:spcAft>
              <a:defRPr sz="1800"/>
            </a:pPr>
            <a:r>
              <a:t>Scheme codes: 125497, 119551, 120503, 118632, 119092, 120841.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Raw CSV → Pandas ingestion → date/NAV cleaning → consolidated NAV history → SQLite → analytics →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All six working scheme codes validated successfully.</a:t>
            </a:r>
          </a:p>
          <a:p>
            <a:pPr>
              <a:spcAft>
                <a:spcPts val="1200"/>
              </a:spcAft>
              <a:defRPr sz="1800"/>
            </a:pPr>
            <a:r>
              <a:t>Zero missing working scheme codes in the validation performed.</a:t>
            </a:r>
          </a:p>
          <a:p>
            <a:pPr>
              <a:spcAft>
                <a:spcPts val="1200"/>
              </a:spcAft>
              <a:defRPr sz="1800"/>
            </a:pPr>
            <a:r>
              <a:t>Unsupported datasets were not fabricated.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SQLite star schema.</a:t>
            </a:r>
          </a:p>
          <a:p>
            <a:pPr>
              <a:spcAft>
                <a:spcPts val="1200"/>
              </a:spcAft>
              <a:defRPr sz="1800"/>
            </a:pPr>
            <a:r>
              <a:t>dim_fund</a:t>
            </a:r>
          </a:p>
          <a:p>
            <a:pPr>
              <a:spcAft>
                <a:spcPts val="1200"/>
              </a:spcAft>
              <a:defRPr sz="1800"/>
            </a:pPr>
            <a:r>
              <a:t>dim_date</a:t>
            </a:r>
          </a:p>
          <a:p>
            <a:pPr>
              <a:spcAft>
                <a:spcPts val="1200"/>
              </a:spcAft>
              <a:defRPr sz="1800"/>
            </a:pPr>
            <a:r>
              <a:t>fact_nav</a:t>
            </a:r>
          </a:p>
          <a:p>
            <a:pPr>
              <a:spcAft>
                <a:spcPts val="1200"/>
              </a:spcAft>
              <a:defRPr sz="1800"/>
            </a:pPr>
            <a:r>
              <a:t>fact_transactions / fact_performance / fact_aum depend on source availability.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NAV trends</a:t>
            </a:r>
          </a:p>
          <a:p>
            <a:pPr>
              <a:spcAft>
                <a:spcPts val="1200"/>
              </a:spcAft>
              <a:defRPr sz="1800"/>
            </a:pPr>
            <a:r>
              <a:t>Daily returns</a:t>
            </a:r>
          </a:p>
          <a:p>
            <a:pPr>
              <a:spcAft>
                <a:spcPts val="1200"/>
              </a:spcAft>
              <a:defRPr sz="1800"/>
            </a:pPr>
            <a:r>
              <a:t>Annualized volatility</a:t>
            </a:r>
          </a:p>
          <a:p>
            <a:pPr>
              <a:spcAft>
                <a:spcPts val="1200"/>
              </a:spcAft>
              <a:defRPr sz="1800"/>
            </a:pPr>
            <a:r>
              <a:t>Cumulative growth</a:t>
            </a:r>
          </a:p>
          <a:p>
            <a:pPr>
              <a:spcAft>
                <a:spcPts val="1200"/>
              </a:spcAft>
              <a:defRPr sz="1800"/>
            </a:pPr>
            <a:r>
              <a:t>Correlation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Performance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Daily returns</a:t>
            </a:r>
          </a:p>
          <a:p>
            <a:pPr>
              <a:spcAft>
                <a:spcPts val="1200"/>
              </a:spcAft>
              <a:defRPr sz="1800"/>
            </a:pPr>
            <a:r>
              <a:t>Annualized return</a:t>
            </a:r>
          </a:p>
          <a:p>
            <a:pPr>
              <a:spcAft>
                <a:spcPts val="1200"/>
              </a:spcAft>
              <a:defRPr sz="1800"/>
            </a:pPr>
            <a:r>
              <a:t>Volatility</a:t>
            </a:r>
          </a:p>
          <a:p>
            <a:pPr>
              <a:spcAft>
                <a:spcPts val="1200"/>
              </a:spcAft>
              <a:defRPr sz="1800"/>
            </a:pPr>
            <a:r>
              <a:t>Sharpe ratio</a:t>
            </a:r>
          </a:p>
          <a:p>
            <a:pPr>
              <a:spcAft>
                <a:spcPts val="1200"/>
              </a:spcAft>
              <a:defRPr sz="1800"/>
            </a:pPr>
            <a:r>
              <a:t>Maximum drawdown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Advanced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Historical VaR 95%</a:t>
            </a:r>
          </a:p>
          <a:p>
            <a:pPr>
              <a:spcAft>
                <a:spcPts val="1200"/>
              </a:spcAft>
              <a:defRPr sz="1800"/>
            </a:pPr>
            <a:r>
              <a:t>Historical CVaR 95%</a:t>
            </a:r>
          </a:p>
          <a:p>
            <a:pPr>
              <a:spcAft>
                <a:spcPts val="1200"/>
              </a:spcAft>
              <a:defRPr sz="1800"/>
            </a:pPr>
            <a:r>
              <a:t>Rolling 90-day Sharpe</a:t>
            </a:r>
          </a:p>
          <a:p>
            <a:pPr>
              <a:spcAft>
                <a:spcPts val="1200"/>
              </a:spcAft>
              <a:defRPr sz="1800"/>
            </a:pPr>
            <a:r>
              <a:t>Maximum drawdown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Alpha /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alpha_beta.csv generated.</a:t>
            </a:r>
          </a:p>
          <a:p>
            <a:pPr>
              <a:spcAft>
                <a:spcPts val="1200"/>
              </a:spcAft>
              <a:defRPr sz="1800"/>
            </a:pPr>
            <a:r>
              <a:t>Current comparison uses an available NAV proxy.</a:t>
            </a:r>
          </a:p>
          <a:p>
            <a:pPr>
              <a:spcAft>
                <a:spcPts val="1200"/>
              </a:spcAft>
              <a:defRPr sz="1800"/>
            </a:pPr>
            <a:r>
              <a:t>Dedicated Nifty benchmark data should be added for full benchmark-relative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Fund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Compact comparison using available risk-adjusted metrics.</a:t>
            </a:r>
          </a:p>
          <a:p>
            <a:pPr>
              <a:spcAft>
                <a:spcPts val="1200"/>
              </a:spcAft>
              <a:defRPr sz="1800"/>
            </a:pPr>
            <a:r>
              <a:t>Scope is limited to the six available schemes.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Rule-based risk appetite input.</a:t>
            </a:r>
          </a:p>
          <a:p>
            <a:pPr>
              <a:spcAft>
                <a:spcPts val="1200"/>
              </a:spcAft>
              <a:defRPr sz="1800"/>
            </a:pPr>
            <a:r>
              <a:t>Returns up to three available schemes using the available Sharpe metric.</a:t>
            </a:r>
          </a:p>
          <a:p>
            <a:pPr>
              <a:spcAft>
                <a:spcPts val="1200"/>
              </a:spcAft>
              <a:defRPr sz="1800"/>
            </a:pPr>
            <a:r>
              <a:t>Not personalized financial advice.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Executive Overview</a:t>
            </a:r>
          </a:p>
          <a:p>
            <a:pPr>
              <a:spcAft>
                <a:spcPts val="1200"/>
              </a:spcAft>
              <a:defRPr sz="1800"/>
            </a:pPr>
            <a:r>
              <a:t>Performance Analysis</a:t>
            </a:r>
          </a:p>
          <a:p>
            <a:pPr>
              <a:spcAft>
                <a:spcPts val="1200"/>
              </a:spcAft>
              <a:defRPr sz="1800"/>
            </a:pPr>
            <a:r>
              <a:t>Risk Analysis</a:t>
            </a:r>
          </a:p>
          <a:p>
            <a:pPr>
              <a:spcAft>
                <a:spcPts val="1200"/>
              </a:spcAft>
              <a:defRPr sz="1800"/>
            </a:pPr>
            <a:r>
              <a:t>Fund Comparison</a:t>
            </a:r>
          </a:p>
          <a:p>
            <a:pPr>
              <a:spcAft>
                <a:spcPts val="1200"/>
              </a:spcAft>
              <a:defRPr sz="1800"/>
            </a:pPr>
            <a:r>
              <a:t>Scheme/date filters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Investor transactions, AUM, portfolio holdings, demographics and industry-wide benchmark data were unavailable.</a:t>
            </a:r>
          </a:p>
          <a:p>
            <a:pPr>
              <a:spcAft>
                <a:spcPts val="1200"/>
              </a:spcAft>
              <a:defRPr sz="1800"/>
            </a:pPr>
            <a:r>
              <a:t>Market-wide figures were therefore not fabricated.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Repository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Git version control</a:t>
            </a:r>
          </a:p>
          <a:p>
            <a:pPr>
              <a:spcAft>
                <a:spcPts val="1200"/>
              </a:spcAft>
              <a:defRPr sz="1800"/>
            </a:pPr>
            <a:r>
              <a:t>Python scripts</a:t>
            </a:r>
          </a:p>
          <a:p>
            <a:pPr>
              <a:spcAft>
                <a:spcPts val="1200"/>
              </a:spcAft>
              <a:defRPr sz="1800"/>
            </a:pPr>
            <a:r>
              <a:t>Jupyter notebooks</a:t>
            </a:r>
          </a:p>
          <a:p>
            <a:pPr>
              <a:spcAft>
                <a:spcPts val="1200"/>
              </a:spcAft>
              <a:defRPr sz="1800"/>
            </a:pPr>
            <a:r>
              <a:t>SQLite database</a:t>
            </a:r>
          </a:p>
          <a:p>
            <a:pPr>
              <a:spcAft>
                <a:spcPts val="1200"/>
              </a:spcAft>
              <a:defRPr sz="1800"/>
            </a:pPr>
            <a:r>
              <a:t>Power BI dashboard</a:t>
            </a:r>
          </a:p>
          <a:p>
            <a:pPr>
              <a:spcAft>
                <a:spcPts val="1200"/>
              </a:spcAft>
              <a:defRPr sz="1800"/>
            </a:pPr>
            <a:r>
              <a:t>Advanced CSV outputs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project demonstrates a reproducible mutual-fund NAV analytics workflow.</a:t>
            </a:r>
          </a:p>
          <a:p>
            <a:pPr>
              <a:spcAft>
                <a:spcPts val="1200"/>
              </a:spcAft>
              <a:defRPr sz="1800"/>
            </a:pPr>
            <a:r>
              <a:t>Future expansion: add investor, AUM, holdings and benchmark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